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3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53"/>
                    </a14:imgEffect>
                    <a14:imgEffect>
                      <a14:saturation sat="63000"/>
                    </a14:imgEffect>
                    <a14:imgEffect>
                      <a14:brightnessContrast bright="74000"/>
                    </a14:imgEffect>
                  </a14:imgLayer>
                </a14:imgProps>
              </a:ext>
            </a:extLst>
          </a:blip>
          <a:srcRect l="3" t="1" r="-2" b="-2880"/>
          <a:stretch/>
        </p:blipFill>
        <p:spPr>
          <a:xfrm>
            <a:off x="10134" y="2001079"/>
            <a:ext cx="12191846" cy="5009321"/>
          </a:xfrm>
          <a:prstGeom prst="rect">
            <a:avLst/>
          </a:prstGeom>
          <a:effectLst>
            <a:outerShdw dist="50800" dir="5400000" algn="ctr" rotWithShape="0">
              <a:srgbClr val="000000"/>
            </a:outerShdw>
          </a:effectLst>
        </p:spPr>
      </p:pic>
      <p:sp>
        <p:nvSpPr>
          <p:cNvPr id="2" name="Text 0"/>
          <p:cNvSpPr/>
          <p:nvPr/>
        </p:nvSpPr>
        <p:spPr>
          <a:xfrm>
            <a:off x="669235" y="2423094"/>
            <a:ext cx="11277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IoT Intrusion Detection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181447" y="3556221"/>
            <a:ext cx="1828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199" y="3487410"/>
            <a:ext cx="11277295" cy="2522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 algn="ctr">
              <a:buNone/>
            </a:pP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Serena SABA 233663</a:t>
            </a:r>
          </a:p>
          <a:p>
            <a:pPr marL="0" indent="0" algn="ctr">
              <a:buNone/>
            </a:pP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Rodolph NEAIMEH 231686</a:t>
            </a:r>
          </a:p>
          <a:p>
            <a:pPr marL="0" indent="0" algn="ctr">
              <a:buNone/>
            </a:pP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Ibrahim </a:t>
            </a:r>
            <a:r>
              <a:rPr lang="en-US" sz="20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IBRAHIM</a:t>
            </a: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231724</a:t>
            </a:r>
          </a:p>
          <a:p>
            <a:pPr marL="0" indent="0" algn="ctr">
              <a:buNone/>
            </a:pPr>
            <a:r>
              <a:rPr lang="en-US" sz="2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Emilio SAKR 231596</a:t>
            </a:r>
            <a:endParaRPr lang="en-US" sz="2000" dirty="0"/>
          </a:p>
        </p:txBody>
      </p:sp>
      <p:pic>
        <p:nvPicPr>
          <p:cNvPr id="1026" name="Picture 2" descr="150 Years of USJ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" y="76628"/>
            <a:ext cx="3491557" cy="174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CIC-IoT-2023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72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M-row prepared sample of CIC-IoT-2023 (Canadian Institute for Cybersecurity, UNB).</a:t>
            </a:r>
            <a:endParaRPr lang="en-US" sz="18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numeric features per flow — flow timing, packet rates, TCP-flag counters, protocol indicators, packet-size statistics.</a:t>
            </a:r>
            <a:endParaRPr lang="en-US" sz="18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classes: 1 benign + 33 attacks (DDoS, DoS, Mirai, Recon, MITM/Spoofing, brute/scan, web/application-layer).</a:t>
            </a:r>
            <a:endParaRPr lang="en-US" sz="18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imbalance: ~230 : 1 between the largest class (~286 K rows) and the smallest (Uploading_Attack, 1 252 rows).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macro-F1, not accuracy?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112772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dominated by majority DDoS / Mirai classes — a model that ignores rare attacks can still look strong.</a:t>
            </a:r>
            <a:endParaRPr lang="en-US" sz="18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misses every web/application-layer attack would still report &gt; 95 % accuracy.</a:t>
            </a:r>
            <a:endParaRPr lang="en-US" sz="18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weights every class equally, so it actually penalises models that fail on the rare attacks we most care about.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1264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11626"/>
            <a:ext cx="2072579" cy="3291840"/>
          </a:xfrm>
          <a:prstGeom prst="rect">
            <a:avLst/>
          </a:prstGeom>
          <a:solidFill>
            <a:srgbClr val="F7F9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11626"/>
            <a:ext cx="2072579" cy="502920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11626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4360" y="2551706"/>
            <a:ext cx="17982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3100346"/>
            <a:ext cx="17433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raw CSVs → Parquet.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median downsampler.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58379" y="1911626"/>
            <a:ext cx="2072579" cy="3291840"/>
          </a:xfrm>
          <a:prstGeom prst="rect">
            <a:avLst/>
          </a:prstGeom>
          <a:solidFill>
            <a:srgbClr val="F7F9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8379" y="1911626"/>
            <a:ext cx="2072579" cy="502920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12" name="Text 10"/>
          <p:cNvSpPr/>
          <p:nvPr/>
        </p:nvSpPr>
        <p:spPr>
          <a:xfrm>
            <a:off x="2758379" y="1911626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</a:p>
        </p:txBody>
      </p:sp>
      <p:sp>
        <p:nvSpPr>
          <p:cNvPr id="13" name="Text 11"/>
          <p:cNvSpPr/>
          <p:nvPr/>
        </p:nvSpPr>
        <p:spPr>
          <a:xfrm>
            <a:off x="2895539" y="2551706"/>
            <a:ext cx="17982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split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22971" y="3100346"/>
            <a:ext cx="17433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</a:t>
            </a: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labels.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 / 15 / 15</a:t>
            </a: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59558" y="1911626"/>
            <a:ext cx="2072579" cy="3291840"/>
          </a:xfrm>
          <a:prstGeom prst="rect">
            <a:avLst/>
          </a:prstGeom>
          <a:solidFill>
            <a:srgbClr val="F7F9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59558" y="1911626"/>
            <a:ext cx="2072579" cy="502920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17" name="Text 15"/>
          <p:cNvSpPr/>
          <p:nvPr/>
        </p:nvSpPr>
        <p:spPr>
          <a:xfrm>
            <a:off x="5059558" y="1911626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</a:p>
        </p:txBody>
      </p:sp>
      <p:sp>
        <p:nvSpPr>
          <p:cNvPr id="18" name="Text 16"/>
          <p:cNvSpPr/>
          <p:nvPr/>
        </p:nvSpPr>
        <p:spPr>
          <a:xfrm>
            <a:off x="5196718" y="2551706"/>
            <a:ext cx="17982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24150" y="3100346"/>
            <a:ext cx="17433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impute.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Yeo-Johnson on 19 skewed features.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scale all features.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737" y="1911626"/>
            <a:ext cx="2072579" cy="3291840"/>
          </a:xfrm>
          <a:prstGeom prst="rect">
            <a:avLst/>
          </a:prstGeom>
          <a:solidFill>
            <a:srgbClr val="F7F9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737" y="1911626"/>
            <a:ext cx="2072579" cy="502920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737" y="1911626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</a:p>
        </p:txBody>
      </p:sp>
      <p:sp>
        <p:nvSpPr>
          <p:cNvPr id="23" name="Text 21"/>
          <p:cNvSpPr/>
          <p:nvPr/>
        </p:nvSpPr>
        <p:spPr>
          <a:xfrm>
            <a:off x="7497897" y="2551706"/>
            <a:ext cx="17982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25329" y="3100346"/>
            <a:ext cx="17433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hierarchical RF.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61916" y="1911626"/>
            <a:ext cx="2072579" cy="3291840"/>
          </a:xfrm>
          <a:prstGeom prst="rect">
            <a:avLst/>
          </a:prstGeom>
          <a:solidFill>
            <a:srgbClr val="F7F9F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61916" y="1911626"/>
            <a:ext cx="2072579" cy="502920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27" name="Text 25"/>
          <p:cNvSpPr/>
          <p:nvPr/>
        </p:nvSpPr>
        <p:spPr>
          <a:xfrm>
            <a:off x="9661916" y="1911626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</a:p>
        </p:txBody>
      </p:sp>
      <p:sp>
        <p:nvSpPr>
          <p:cNvPr id="28" name="Text 26"/>
          <p:cNvSpPr/>
          <p:nvPr/>
        </p:nvSpPr>
        <p:spPr>
          <a:xfrm>
            <a:off x="9799076" y="2551706"/>
            <a:ext cx="17982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826508" y="3100346"/>
            <a:ext cx="17433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/predict, /predict/batch.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 ms latency.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729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200" b="1" u="sng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</a:t>
            </a:r>
            <a:r>
              <a:rPr lang="en-US" sz="2200" b="1" u="sng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r>
              <a:rPr lang="en-US" sz="22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multinomial </a:t>
            </a:r>
            <a:r>
              <a:rPr lang="en-US" sz="2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softmax, L-BFGS, C = 2.0, class-weighted cross-entropy. Linear baseline.</a:t>
            </a:r>
            <a:endParaRPr lang="en-US" sz="22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200" b="1" u="sng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</a:t>
            </a:r>
            <a:r>
              <a:rPr lang="en-US" sz="2200" b="1" u="sng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r>
              <a:rPr lang="en-US" sz="22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200 </a:t>
            </a:r>
            <a:r>
              <a:rPr lang="en-US" sz="2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max_features = sqrt, min_samples_leaf = 5, balanced_subsample. Trained on the full 4 086 646-row split.</a:t>
            </a:r>
            <a:endParaRPr lang="en-US" sz="22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200" b="1" u="sng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Random </a:t>
            </a:r>
            <a:r>
              <a:rPr lang="en-US" sz="2200" b="1" u="sng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r>
              <a:rPr lang="en-US" sz="22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hierarchical </a:t>
            </a:r>
            <a:r>
              <a:rPr lang="en-US" sz="2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(Benign/Attack → Family → Specific class). Same data budget</a:t>
            </a:r>
            <a:r>
              <a:rPr lang="en-US" sz="22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buSzPct val="100000"/>
            </a:pPr>
            <a:endParaRPr lang="en-US" sz="2200" dirty="0"/>
          </a:p>
          <a:p>
            <a:pPr algn="l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2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trained on identical preprocessed splits, so any lift reflects model capacity </a:t>
            </a:r>
            <a:r>
              <a:rPr lang="en-US" sz="22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alone; </a:t>
            </a:r>
            <a:r>
              <a:rPr lang="en-US" sz="2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data leakage or split mismatch.</a:t>
            </a:r>
            <a:endParaRPr lang="en-US" sz="2200" dirty="0"/>
          </a:p>
          <a:p>
            <a:pPr algn="l">
              <a:lnSpc>
                <a:spcPct val="115000"/>
              </a:lnSpc>
              <a:spcAft>
                <a:spcPts val="600"/>
              </a:spcAft>
              <a:buSzPct val="100000"/>
            </a:pPr>
            <a:r>
              <a:rPr lang="en-US" sz="2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 everywhere; no synthetic </a:t>
            </a:r>
            <a:r>
              <a:rPr lang="en-US" sz="22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oversampling: </a:t>
            </a:r>
            <a:r>
              <a:rPr lang="en-US" sz="2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SMOTE-style interpolation rejected as physically implausible on flow features.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423818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423818" cy="411480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RF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31494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BenignTraffic vs Attack.</a:t>
            </a:r>
            <a:endParaRPr lang="en-US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0.30.</a:t>
            </a:r>
            <a:endParaRPr lang="en-US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all 4 M rows.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972458" y="2167128"/>
            <a:ext cx="320040" cy="329184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4383938" y="1188720"/>
            <a:ext cx="3423818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3938" y="1188720"/>
            <a:ext cx="3423818" cy="411480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13" name="Text 11"/>
          <p:cNvSpPr/>
          <p:nvPr/>
        </p:nvSpPr>
        <p:spPr>
          <a:xfrm>
            <a:off x="4383938" y="118872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</a:p>
        </p:txBody>
      </p:sp>
      <p:sp>
        <p:nvSpPr>
          <p:cNvPr id="14" name="Text 12"/>
          <p:cNvSpPr/>
          <p:nvPr/>
        </p:nvSpPr>
        <p:spPr>
          <a:xfrm>
            <a:off x="4475378" y="169164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RF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21098" y="2240280"/>
            <a:ext cx="31494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families:</a:t>
            </a:r>
            <a:endParaRPr lang="en-US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· DoS · Mirai · Recon</a:t>
            </a:r>
            <a:endParaRPr lang="en-US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· BruteScan · Web.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899197" y="2167128"/>
            <a:ext cx="320040" cy="329184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310677" y="1188720"/>
            <a:ext cx="3423818" cy="2286000"/>
          </a:xfrm>
          <a:prstGeom prst="rect">
            <a:avLst/>
          </a:prstGeom>
          <a:solidFill>
            <a:srgbClr val="F7F9FC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0677" y="1188720"/>
            <a:ext cx="3423818" cy="411480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19" name="Text 17"/>
          <p:cNvSpPr/>
          <p:nvPr/>
        </p:nvSpPr>
        <p:spPr>
          <a:xfrm>
            <a:off x="8310677" y="118872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</a:p>
        </p:txBody>
      </p:sp>
      <p:sp>
        <p:nvSpPr>
          <p:cNvPr id="20" name="Text 18"/>
          <p:cNvSpPr/>
          <p:nvPr/>
        </p:nvSpPr>
        <p:spPr>
          <a:xfrm>
            <a:off x="8402117" y="169164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Per-family specialists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447837" y="2240280"/>
            <a:ext cx="31494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RF per family,</a:t>
            </a:r>
            <a:endParaRPr lang="en-US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the specific</a:t>
            </a:r>
            <a:endParaRPr lang="en-US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within that family.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hierarchy helps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200" y="4251960"/>
            <a:ext cx="112772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sub-model solves a smaller </a:t>
            </a:r>
            <a:r>
              <a:rPr lang="en-US" sz="20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problem; </a:t>
            </a: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RF spends all 200 trees on 6 rare attacks instead of 32 unrelated classes.</a:t>
            </a:r>
            <a:endParaRPr lang="en-US" sz="20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inside each family is much milder, so class weights actually help (e.g. XSS vs. CommandInjection ≈ 1.4 : 1).</a:t>
            </a:r>
            <a:endParaRPr lang="en-US" sz="20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errors compound across </a:t>
            </a:r>
            <a:r>
              <a:rPr lang="en-US" sz="20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stages; </a:t>
            </a: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misrouted Web flow at Stage 2 cannot be recovered downstream.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1248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smtClean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831846"/>
              </p:ext>
            </p:extLst>
          </p:nvPr>
        </p:nvGraphicFramePr>
        <p:xfrm>
          <a:off x="472287" y="840222"/>
          <a:ext cx="11247120" cy="1581912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rows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macro-F1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</a:t>
                      </a:r>
                      <a:r>
                        <a:rPr lang="en-US" sz="1600" dirty="0" smtClean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4 086 646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4 086 646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59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Three-stage RF (final)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59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4 086 646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59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594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82474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3943185"/>
            <a:ext cx="512196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RF matches the flat RF on aggregate macro-F1 (0.8644 vs 0.8635) in a model 60 % smaller (3.2 GB vs 8.0 GB).</a:t>
            </a:r>
            <a:endParaRPr lang="en-US" sz="17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Validation-to-test macro-F1 is within ±0.002 on every </a:t>
            </a:r>
            <a:r>
              <a:rPr lang="en-US" sz="17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model; </a:t>
            </a:r>
            <a:r>
              <a:rPr lang="en-US" sz="17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splits generalise, no overfit to validation</a:t>
            </a:r>
            <a:r>
              <a:rPr lang="en-US" sz="17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83" y="2796209"/>
            <a:ext cx="5434299" cy="40617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smtClean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</a:t>
            </a: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7295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in src/api.py exposes three HTTP endpoints.</a:t>
            </a:r>
            <a:endParaRPr lang="en-US" sz="20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</a:t>
            </a:r>
            <a:r>
              <a:rPr lang="en-US" sz="20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health; </a:t>
            </a: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probe plus the currently loaded model name.</a:t>
            </a:r>
            <a:endParaRPr lang="en-US" sz="20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</a:t>
            </a:r>
            <a:r>
              <a:rPr lang="en-US" sz="20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predict; single </a:t>
            </a: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TrafficRecord → predicted class plus per-class probabilities.</a:t>
            </a:r>
            <a:endParaRPr lang="en-US" sz="20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</a:t>
            </a:r>
            <a:r>
              <a:rPr lang="en-US" sz="20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predict/batch; list </a:t>
            </a: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records → list of predictions, for high-throughput callers.</a:t>
            </a:r>
            <a:endParaRPr lang="en-US" sz="20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 applied </a:t>
            </a:r>
            <a:r>
              <a:rPr lang="en-US" sz="20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server-side; </a:t>
            </a: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send raw flow features, no client-side prep.</a:t>
            </a:r>
            <a:endParaRPr lang="en-US" sz="20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bakes the trained joblib into the image, so the served model version is reproducible.</a:t>
            </a:r>
            <a:endParaRPr lang="en-US" sz="20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image: emiliosakr/iot-intrusion-detection:latest. 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682" y="4332476"/>
            <a:ext cx="9164329" cy="2248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demo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16064" y="855357"/>
            <a:ext cx="112772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demo_stream.py samples records from the held-out test set (with their ground-truth labels).</a:t>
            </a:r>
            <a:endParaRPr lang="en-US" sz="20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is POSTed to the running API at a configurable rate, one at a time.</a:t>
            </a:r>
            <a:endParaRPr lang="en-US" sz="20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colour-coded SOC-style live feed: green tick on benign flows, </a:t>
            </a:r>
            <a:r>
              <a:rPr lang="en-US" sz="20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</a:t>
            </a:r>
            <a:r>
              <a:rPr lang="en-US" sz="20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attacks, MISCLASSIFIED badge when the prediction disagrees with ground truth</a:t>
            </a:r>
            <a:r>
              <a:rPr lang="en-US" sz="2000" dirty="0" smtClean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116912" y="2545946"/>
            <a:ext cx="8899855" cy="777240"/>
          </a:xfrm>
          <a:prstGeom prst="roundRect">
            <a:avLst>
              <a:gd name="adj" fmla="val 9412"/>
            </a:avLst>
          </a:prstGeom>
          <a:solidFill>
            <a:srgbClr val="ECEFF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16912" y="2545946"/>
            <a:ext cx="8899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demo_stream.py --n 60 --rate 4 --attack-ratio 0.35</a:t>
            </a:r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30" y="3777733"/>
            <a:ext cx="8983329" cy="28102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5448"/>
            <a:ext cx="12191695" cy="16459"/>
          </a:xfrm>
          <a:prstGeom prst="rect">
            <a:avLst/>
          </a:prstGeom>
          <a:solidFill>
            <a:srgbClr val="1F3A6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12772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training pipeline as four self-contained notebooks (preprocessing, LR, RF, three-stage RF).</a:t>
            </a:r>
            <a:endParaRPr lang="en-US" sz="18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hierarchical Random Forest at 96.87 % accuracy and 0.8644 macro-F1 on the held-out test set.</a:t>
            </a:r>
            <a:endParaRPr lang="en-US" sz="18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Dockerised FastAPI inference service plus a live streaming demo for SOC-style visualisation.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112772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at the serving layer — feature-distribution drift and alert-rate spikes.</a:t>
            </a:r>
            <a:endParaRPr lang="en-US" sz="18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Stage-3 Web-family specialist with a gradient-boosted-tree model (LightGBM / XGBoost).</a:t>
            </a:r>
            <a:endParaRPr lang="en-US" sz="1800" dirty="0"/>
          </a:p>
          <a:p>
            <a:pPr marL="342900" indent="-342900" algn="l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8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Payload-level features to break the ~0.86 macro-F1 dataset ceiling.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832</Words>
  <Application>Microsoft Office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Intrusion Detection — Streaming Three-Stage Random Forest on CIC-IoT-2023</dc:title>
  <dc:subject>PptxGenJS Presentation</dc:subject>
  <dc:creator>Serena Saba, Rodolf Neimeh, Ibrahim Ibrahim, Emilio Sakr</dc:creator>
  <cp:lastModifiedBy>user</cp:lastModifiedBy>
  <cp:revision>13</cp:revision>
  <dcterms:created xsi:type="dcterms:W3CDTF">2026-04-25T05:54:56Z</dcterms:created>
  <dcterms:modified xsi:type="dcterms:W3CDTF">2026-04-25T13:53:13Z</dcterms:modified>
</cp:coreProperties>
</file>