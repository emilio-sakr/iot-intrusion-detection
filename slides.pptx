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6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0"/>
            <a:ext cx="121889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12745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Calibri"/>
              </a:rPr>
              <a:t>IoT Intrusion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C5D4EA"/>
                </a:solidFill>
                <a:latin typeface="Calibri"/>
              </a:rPr>
              <a:t>Streaming three-stage Random Forest on CIC-IoT-2023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Calibri"/>
              </a:rPr>
              <a:t>[TEAM MEMBER NAMES]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48056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C5D4EA"/>
                </a:solidFill>
                <a:latin typeface="Calibri"/>
              </a:rPr>
              <a:t>Machine Learning — Cybersecurity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CB5D7"/>
                </a:solidFill>
                <a:latin typeface="Calibri"/>
              </a:rPr>
              <a:t>https://github.com/Emilio-Sakr/iot-intrusion-detection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F3A68"/>
                </a:solidFill>
                <a:latin typeface="Calibri"/>
              </a:rPr>
              <a:t>Problem &amp; Motivation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3B82F6"/>
                </a:solidFill>
                <a:latin typeface="Calibri"/>
              </a:rPr>
              <a:t>• </a:t>
            </a:r>
            <a:r>
              <a:rPr sz="2200">
                <a:solidFill>
                  <a:srgbClr val="222B3A"/>
                </a:solidFill>
                <a:latin typeface="Calibri"/>
              </a:rPr>
              <a:t>IoT devices generate large volumes of network traffic, a growing fraction of which is malicious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3B82F6"/>
                </a:solidFill>
                <a:latin typeface="Calibri"/>
              </a:rPr>
              <a:t>• </a:t>
            </a:r>
            <a:r>
              <a:rPr sz="2200">
                <a:solidFill>
                  <a:srgbClr val="222B3A"/>
                </a:solidFill>
                <a:latin typeface="Calibri"/>
              </a:rPr>
              <a:t>Traditional signature-based IDS miss novel and polymorphic attacks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3B82F6"/>
                </a:solidFill>
                <a:latin typeface="Calibri"/>
              </a:rPr>
              <a:t>• </a:t>
            </a:r>
            <a:r>
              <a:rPr sz="2200">
                <a:solidFill>
                  <a:srgbClr val="222B3A"/>
                </a:solidFill>
                <a:latin typeface="Calibri"/>
              </a:rPr>
              <a:t>Goal: classify each flow as benign or one of 33 attack types, in real time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3B82F6"/>
                </a:solidFill>
                <a:latin typeface="Calibri"/>
              </a:rPr>
              <a:t>• </a:t>
            </a:r>
            <a:r>
              <a:rPr sz="2200">
                <a:solidFill>
                  <a:srgbClr val="222B3A"/>
                </a:solidFill>
                <a:latin typeface="Calibri"/>
              </a:rPr>
              <a:t>Challenge: severe class imbalance (230:1) means accuracy is misleading — rare attacks must also be caught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3B82F6"/>
                </a:solidFill>
                <a:latin typeface="Calibri"/>
              </a:rPr>
              <a:t>• </a:t>
            </a:r>
            <a:r>
              <a:rPr sz="2200">
                <a:solidFill>
                  <a:srgbClr val="222B3A"/>
                </a:solidFill>
                <a:latin typeface="Calibri"/>
              </a:rPr>
              <a:t>Deliverable: trained model + deployable HTTP inference service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F3A68"/>
                </a:solidFill>
                <a:latin typeface="Calibri"/>
              </a:rPr>
              <a:t>Dataset — CIC-IoT-2023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64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3B82F6"/>
                </a:solidFill>
                <a:latin typeface="Calibri"/>
              </a:rPr>
              <a:t>• </a:t>
            </a:r>
            <a:r>
              <a:rPr sz="2000">
                <a:solidFill>
                  <a:srgbClr val="222B3A"/>
                </a:solidFill>
                <a:latin typeface="Calibri"/>
              </a:rPr>
              <a:t>Canadian Institute for Cybersecurity, University of New Brunswick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3B82F6"/>
                </a:solidFill>
                <a:latin typeface="Calibri"/>
              </a:rPr>
              <a:t>• </a:t>
            </a:r>
            <a:r>
              <a:rPr sz="2000">
                <a:solidFill>
                  <a:srgbClr val="222B3A"/>
                </a:solidFill>
                <a:latin typeface="Calibri"/>
              </a:rPr>
              <a:t>5.8 M flow records, 47 features (flow stats, TCP flags, protocol indicators)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3B82F6"/>
                </a:solidFill>
                <a:latin typeface="Calibri"/>
              </a:rPr>
              <a:t>• </a:t>
            </a:r>
            <a:r>
              <a:rPr sz="2000">
                <a:solidFill>
                  <a:srgbClr val="222B3A"/>
                </a:solidFill>
                <a:latin typeface="Calibri"/>
              </a:rPr>
              <a:t>34 classes: 1 benign + 33 attacks (DDoS, DoS, Mirai, Recon, MITM, Spoofing, Web)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3B82F6"/>
                </a:solidFill>
                <a:latin typeface="Calibri"/>
              </a:rPr>
              <a:t>• </a:t>
            </a:r>
            <a:r>
              <a:rPr sz="2000">
                <a:solidFill>
                  <a:srgbClr val="222B3A"/>
                </a:solidFill>
                <a:latin typeface="Calibri"/>
              </a:rPr>
              <a:t>Severe imbalance — 230:1 between largest and smallest class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749039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A68"/>
                </a:solidFill>
                <a:latin typeface="Calibri"/>
              </a:rPr>
              <a:t>Why macro-F1, not accuracy?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3B82F6"/>
                </a:solidFill>
                <a:latin typeface="Calibri"/>
              </a:rPr>
              <a:t>• </a:t>
            </a:r>
            <a:r>
              <a:rPr sz="1800">
                <a:solidFill>
                  <a:srgbClr val="222B3A"/>
                </a:solidFill>
                <a:latin typeface="Calibri"/>
              </a:rPr>
              <a:t>Accuracy is dominated by majority DDoS / Mirai classes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3B82F6"/>
                </a:solidFill>
                <a:latin typeface="Calibri"/>
              </a:rPr>
              <a:t>• </a:t>
            </a:r>
            <a:r>
              <a:rPr sz="1800">
                <a:solidFill>
                  <a:srgbClr val="222B3A"/>
                </a:solidFill>
                <a:latin typeface="Calibri"/>
              </a:rPr>
              <a:t>A model that ignores rare web-layer attacks can still look good on paper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3B82F6"/>
                </a:solidFill>
                <a:latin typeface="Calibri"/>
              </a:rPr>
              <a:t>• </a:t>
            </a:r>
            <a:r>
              <a:rPr sz="1800">
                <a:solidFill>
                  <a:srgbClr val="222B3A"/>
                </a:solidFill>
                <a:latin typeface="Calibri"/>
              </a:rPr>
              <a:t>Macro-F1 treats every class equally — correctly penalising a model that fails on rare attacks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F3A68"/>
                </a:solidFill>
                <a:latin typeface="Calibri"/>
              </a:rPr>
              <a:t>End-to-end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2356" y="2194560"/>
            <a:ext cx="2103120" cy="1828800"/>
          </a:xfrm>
          <a:prstGeom prst="roundRect">
            <a:avLst/>
          </a:prstGeom>
          <a:solidFill>
            <a:srgbClr val="ECEFF3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2356" y="23774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3B82F6"/>
                </a:solidFill>
                <a:latin typeface="Calibri"/>
              </a:rP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2356" y="28346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F3A68"/>
                </a:solidFill>
                <a:latin typeface="Calibri"/>
              </a:rPr>
              <a:t>Ingest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" y="33375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22B3A"/>
                </a:solidFill>
                <a:latin typeface="Calibri"/>
              </a:rPr>
              <a:t>CSV → Parquet
schema validation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02636" y="2194560"/>
            <a:ext cx="2103120" cy="1828800"/>
          </a:xfrm>
          <a:prstGeom prst="roundRect">
            <a:avLst/>
          </a:prstGeom>
          <a:solidFill>
            <a:srgbClr val="ECEFF3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02636" y="23774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3B82F6"/>
                </a:solidFill>
                <a:latin typeface="Calibri"/>
              </a:rPr>
              <a:t>Step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02636" y="28346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F3A68"/>
                </a:solidFill>
                <a:latin typeface="Calibri"/>
              </a:rPr>
              <a:t>Clean &amp; split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94076" y="33375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22B3A"/>
                </a:solidFill>
                <a:latin typeface="Calibri"/>
              </a:rPr>
              <a:t>drop duplicates
stratified 70/15/15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42916" y="2194560"/>
            <a:ext cx="2103120" cy="1828800"/>
          </a:xfrm>
          <a:prstGeom prst="roundRect">
            <a:avLst/>
          </a:prstGeom>
          <a:solidFill>
            <a:srgbClr val="ECEFF3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42916" y="23774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3B82F6"/>
                </a:solidFill>
                <a:latin typeface="Calibri"/>
              </a:rPr>
              <a:t>Step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42916" y="28346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F3A68"/>
                </a:solidFill>
                <a:latin typeface="Calibri"/>
              </a:rPr>
              <a:t>Preprocess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34356" y="33375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22B3A"/>
                </a:solidFill>
                <a:latin typeface="Calibri"/>
              </a:rPr>
              <a:t>median impute
Yeo-Johnson
standard scale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83196" y="2194560"/>
            <a:ext cx="2103120" cy="1828800"/>
          </a:xfrm>
          <a:prstGeom prst="roundRect">
            <a:avLst/>
          </a:prstGeom>
          <a:solidFill>
            <a:srgbClr val="ECEFF3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83196" y="23774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3B82F6"/>
                </a:solidFill>
                <a:latin typeface="Calibri"/>
              </a:rPr>
              <a:t>Step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83196" y="28346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F3A68"/>
                </a:solidFill>
                <a:latin typeface="Calibri"/>
              </a:rPr>
              <a:t>Train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74636" y="33375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22B3A"/>
                </a:solidFill>
                <a:latin typeface="Calibri"/>
              </a:rPr>
              <a:t>3 models fit on
same splits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23476" y="2194560"/>
            <a:ext cx="2103120" cy="1828800"/>
          </a:xfrm>
          <a:prstGeom prst="roundRect">
            <a:avLst/>
          </a:prstGeom>
          <a:solidFill>
            <a:srgbClr val="ECEFF3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23476" y="23774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3B82F6"/>
                </a:solidFill>
                <a:latin typeface="Calibri"/>
              </a:rPr>
              <a:t>Step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23476" y="28346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F3A68"/>
                </a:solidFill>
                <a:latin typeface="Calibri"/>
              </a:rPr>
              <a:t>Serve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14916" y="33375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22B3A"/>
                </a:solidFill>
                <a:latin typeface="Calibri"/>
              </a:rPr>
              <a:t>FastAPI + Docker
/predict, /predict/batch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57200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6B7280"/>
                </a:solidFill>
                <a:latin typeface="Calibri"/>
              </a:rPr>
              <a:t>Preprocessor is fitted once on the training split and reused at inference — no training/serving skew.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F3A68"/>
                </a:solidFill>
                <a:latin typeface="Calibri"/>
              </a:rPr>
              <a:t>Models Compared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3B82F6"/>
                </a:solidFill>
                <a:latin typeface="Calibri"/>
              </a:rPr>
              <a:t>• </a:t>
            </a:r>
            <a:r>
              <a:rPr sz="2200">
                <a:solidFill>
                  <a:srgbClr val="222B3A"/>
                </a:solidFill>
                <a:latin typeface="Calibri"/>
              </a:rPr>
              <a:t>Logistic Regression v2 — linear baseline, L-BFGS, class-weighted cross-entropy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3B82F6"/>
                </a:solidFill>
                <a:latin typeface="Calibri"/>
              </a:rPr>
              <a:t>• </a:t>
            </a:r>
            <a:r>
              <a:rPr sz="2200">
                <a:solidFill>
                  <a:srgbClr val="222B3A"/>
                </a:solidFill>
                <a:latin typeface="Calibri"/>
              </a:rPr>
              <a:t>Random Forest — 200 trees, balanced_subsample weighting, 15% subsample for speed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3B82F6"/>
                </a:solidFill>
                <a:latin typeface="Calibri"/>
              </a:rPr>
              <a:t>• </a:t>
            </a:r>
            <a:r>
              <a:rPr sz="2200">
                <a:solidFill>
                  <a:srgbClr val="222B3A"/>
                </a:solidFill>
                <a:latin typeface="Calibri"/>
              </a:rPr>
              <a:t>Three-stage Random Forest — hierarchical decomposition, full 4.1M training rows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3B82F6"/>
                </a:solidFill>
                <a:latin typeface="Calibri"/>
              </a:rPr>
              <a:t>• </a:t>
            </a:r>
            <a:r>
              <a:rPr sz="2200">
                <a:solidFill>
                  <a:srgbClr val="222B3A"/>
                </a:solidFill>
                <a:latin typeface="Calibri"/>
              </a:rPr>
              <a:t>Every model trained on the same preprocessed splits, so any lift reflects model capacity alone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3B82F6"/>
                </a:solidFill>
                <a:latin typeface="Calibri"/>
              </a:rPr>
              <a:t>• </a:t>
            </a:r>
            <a:r>
              <a:rPr sz="2200">
                <a:solidFill>
                  <a:srgbClr val="222B3A"/>
                </a:solidFill>
                <a:latin typeface="Calibri"/>
              </a:rPr>
              <a:t>Class-weighted loss used everywhere; no synthetic oversampling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F3A68"/>
                </a:solidFill>
                <a:latin typeface="Calibri"/>
              </a:rPr>
              <a:t>Three-stage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25196" y="1737360"/>
            <a:ext cx="3657600" cy="2103120"/>
          </a:xfrm>
          <a:prstGeom prst="roundRect">
            <a:avLst/>
          </a:prstGeom>
          <a:solidFill>
            <a:srgbClr val="ECEFF3"/>
          </a:solidFill>
          <a:ln w="25400"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5196" y="18745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3B82F6"/>
                </a:solidFill>
                <a:latin typeface="Calibri"/>
              </a:rPr>
              <a:t>Stage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" y="233172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F3A68"/>
                </a:solidFill>
                <a:latin typeface="Calibri"/>
              </a:rPr>
              <a:t>Binary RF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56" y="288036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22B3A"/>
                </a:solidFill>
                <a:latin typeface="Calibri"/>
              </a:rPr>
              <a:t>BenignTraffic vs. Attack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082796" y="2697480"/>
            <a:ext cx="182880" cy="18288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65676" y="1737360"/>
            <a:ext cx="3657600" cy="2103120"/>
          </a:xfrm>
          <a:prstGeom prst="roundRect">
            <a:avLst/>
          </a:prstGeom>
          <a:solidFill>
            <a:srgbClr val="ECEFF3"/>
          </a:solidFill>
          <a:ln w="25400"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65676" y="18745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3B82F6"/>
                </a:solidFill>
                <a:latin typeface="Calibri"/>
              </a:rPr>
              <a:t>Stage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65676" y="233172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F3A68"/>
                </a:solidFill>
                <a:latin typeface="Calibri"/>
              </a:rPr>
              <a:t>Family RF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2836" y="288036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22B3A"/>
                </a:solidFill>
                <a:latin typeface="Calibri"/>
              </a:rPr>
              <a:t>7 attack families
DDoS / DoS / Mirai / Recon /
Spoofing / BruteScan / Web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923276" y="2697480"/>
            <a:ext cx="182880" cy="18288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06156" y="1737360"/>
            <a:ext cx="3657600" cy="2103120"/>
          </a:xfrm>
          <a:prstGeom prst="roundRect">
            <a:avLst/>
          </a:prstGeom>
          <a:solidFill>
            <a:srgbClr val="ECEFF3"/>
          </a:solidFill>
          <a:ln w="25400"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06156" y="18745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3B82F6"/>
                </a:solidFill>
                <a:latin typeface="Calibri"/>
              </a:rPr>
              <a:t>Stage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06156" y="233172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F3A68"/>
                </a:solidFill>
                <a:latin typeface="Calibri"/>
              </a:rPr>
              <a:t>Per-family RFs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3316" y="288036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22B3A"/>
                </a:solidFill>
                <a:latin typeface="Calibri"/>
              </a:rPr>
              <a:t>One specialist RF per family
classifies the specific attack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3891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A68"/>
                </a:solidFill>
                <a:latin typeface="Calibri"/>
              </a:rPr>
              <a:t>Why the hierarchy helps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93776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3B82F6"/>
                </a:solidFill>
                <a:latin typeface="Calibri"/>
              </a:rPr>
              <a:t>• </a:t>
            </a:r>
            <a:r>
              <a:rPr sz="1600">
                <a:solidFill>
                  <a:srgbClr val="222B3A"/>
                </a:solidFill>
                <a:latin typeface="Calibri"/>
              </a:rPr>
              <a:t>Each sub-model solves a smaller problem — the Web RF spends all its capacity on 6 rare web-layer attacks instead of competing against 32 unrelated classes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3B82F6"/>
                </a:solidFill>
                <a:latin typeface="Calibri"/>
              </a:rPr>
              <a:t>• </a:t>
            </a:r>
            <a:r>
              <a:rPr sz="1600">
                <a:solidFill>
                  <a:srgbClr val="222B3A"/>
                </a:solidFill>
                <a:latin typeface="Calibri"/>
              </a:rPr>
              <a:t>Imbalance inside each family is tame (e.g. XSS vs CommandInjection is 1.4:1), so class weights actually help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3B82F6"/>
                </a:solidFill>
                <a:latin typeface="Calibri"/>
              </a:rPr>
              <a:t>• </a:t>
            </a:r>
            <a:r>
              <a:rPr sz="1600">
                <a:solidFill>
                  <a:srgbClr val="222B3A"/>
                </a:solidFill>
                <a:latin typeface="Calibri"/>
              </a:rPr>
              <a:t>Tradeoff: errors compound across stages (a mis-routed Web attack cannot be recovered)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F3A68"/>
                </a:solidFill>
                <a:latin typeface="Calibri"/>
              </a:rPr>
              <a:t>Results (held-out test set)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71600" y="1737360"/>
          <a:ext cx="9445752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1438"/>
                <a:gridCol w="2361438"/>
                <a:gridCol w="2361438"/>
                <a:gridCol w="2361438"/>
              </a:tblGrid>
              <a:tr h="54864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Training rows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Test accuracy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Test macro-F1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22B3A"/>
                          </a:solidFill>
                          <a:latin typeface="Calibri"/>
                        </a:rPr>
                        <a:t>Logistic Regression v2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22B3A"/>
                          </a:solidFill>
                          <a:latin typeface="Calibri"/>
                        </a:rPr>
                        <a:t>4.08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22B3A"/>
                          </a:solidFill>
                          <a:latin typeface="Calibri"/>
                        </a:rPr>
                        <a:t>0.7800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22B3A"/>
                          </a:solidFill>
                          <a:latin typeface="Calibri"/>
                        </a:rPr>
                        <a:t>0.5727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22B3A"/>
                          </a:solidFill>
                          <a:latin typeface="Calibri"/>
                        </a:rPr>
                        <a:t>Random Forest</a:t>
                      </a:r>
                    </a:p>
                  </a:txBody>
                  <a:tcPr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22B3A"/>
                          </a:solidFill>
                          <a:latin typeface="Calibri"/>
                        </a:rPr>
                        <a:t>614 K (15 %)</a:t>
                      </a:r>
                    </a:p>
                  </a:txBody>
                  <a:tcPr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22B3A"/>
                          </a:solidFill>
                          <a:latin typeface="Calibri"/>
                        </a:rPr>
                        <a:t>0.9602</a:t>
                      </a:r>
                    </a:p>
                  </a:txBody>
                  <a:tcPr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22B3A"/>
                          </a:solidFill>
                          <a:latin typeface="Calibri"/>
                        </a:rPr>
                        <a:t>0.8331</a:t>
                      </a:r>
                    </a:p>
                  </a:txBody>
                  <a:tcPr>
                    <a:solidFill>
                      <a:srgbClr val="ECEFF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59448"/>
                          </a:solidFill>
                          <a:latin typeface="Calibri"/>
                        </a:rPr>
                        <a:t>Three-stage RF  (final)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59448"/>
                          </a:solidFill>
                          <a:latin typeface="Calibri"/>
                        </a:rPr>
                        <a:t>4.08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59448"/>
                          </a:solidFill>
                          <a:latin typeface="Calibri"/>
                        </a:rPr>
                        <a:t>0.963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59448"/>
                          </a:solidFill>
                          <a:latin typeface="Calibri"/>
                        </a:rPr>
                        <a:t>0.854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297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A68"/>
                </a:solidFill>
                <a:latin typeface="Calibri"/>
              </a:rPr>
              <a:t>Key findings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3B82F6"/>
                </a:solidFill>
                <a:latin typeface="Calibri"/>
              </a:rPr>
              <a:t>• </a:t>
            </a:r>
            <a:r>
              <a:rPr sz="1800">
                <a:solidFill>
                  <a:srgbClr val="222B3A"/>
                </a:solidFill>
                <a:latin typeface="Calibri"/>
              </a:rPr>
              <a:t>Three-stage RF beats flat RF by ~2 points of macro-F1, driven by rare web/app-layer classes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3B82F6"/>
                </a:solidFill>
                <a:latin typeface="Calibri"/>
              </a:rPr>
              <a:t>• </a:t>
            </a:r>
            <a:r>
              <a:rPr sz="1800">
                <a:solidFill>
                  <a:srgbClr val="222B3A"/>
                </a:solidFill>
                <a:latin typeface="Calibri"/>
              </a:rPr>
              <a:t>Val → test macro-F1 delta within ±0.002 on every model — splits generalise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3B82F6"/>
                </a:solidFill>
                <a:latin typeface="Calibri"/>
              </a:rPr>
              <a:t>• </a:t>
            </a:r>
            <a:r>
              <a:rPr sz="1800">
                <a:solidFill>
                  <a:srgbClr val="222B3A"/>
                </a:solidFill>
                <a:latin typeface="Calibri"/>
              </a:rPr>
              <a:t>Ceiling at ~0.85 is dataset-bound: payload-level features (not in this sample) would be needed to push further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F3A68"/>
                </a:solidFill>
                <a:latin typeface="Calibri"/>
              </a:rPr>
              <a:t>Serving — FastAPI + Docker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64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3B82F6"/>
                </a:solidFill>
                <a:latin typeface="Calibri"/>
              </a:rPr>
              <a:t>• </a:t>
            </a:r>
            <a:r>
              <a:rPr sz="2000">
                <a:solidFill>
                  <a:srgbClr val="222B3A"/>
                </a:solidFill>
                <a:latin typeface="Calibri"/>
              </a:rPr>
              <a:t>FastAPI service in src/api.py with three endpoints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3B82F6"/>
                </a:solidFill>
                <a:latin typeface="Calibri"/>
              </a:rPr>
              <a:t>• </a:t>
            </a:r>
            <a:r>
              <a:rPr sz="2000">
                <a:solidFill>
                  <a:srgbClr val="222B3A"/>
                </a:solidFill>
                <a:latin typeface="Calibri"/>
              </a:rPr>
              <a:t>  GET  /health           — liveness + loaded model name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3B82F6"/>
                </a:solidFill>
                <a:latin typeface="Calibri"/>
              </a:rPr>
              <a:t>• </a:t>
            </a:r>
            <a:r>
              <a:rPr sz="2000">
                <a:solidFill>
                  <a:srgbClr val="222B3A"/>
                </a:solidFill>
                <a:latin typeface="Calibri"/>
              </a:rPr>
              <a:t>  POST /predict         — single TrafficRecord → prediction + probabilities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3B82F6"/>
                </a:solidFill>
                <a:latin typeface="Calibri"/>
              </a:rPr>
              <a:t>• </a:t>
            </a:r>
            <a:r>
              <a:rPr sz="2000">
                <a:solidFill>
                  <a:srgbClr val="222B3A"/>
                </a:solidFill>
                <a:latin typeface="Calibri"/>
              </a:rPr>
              <a:t>  POST /predict/batch   — list of records → list of predictions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3B82F6"/>
                </a:solidFill>
                <a:latin typeface="Calibri"/>
              </a:rPr>
              <a:t>• </a:t>
            </a:r>
            <a:r>
              <a:rPr sz="2000">
                <a:solidFill>
                  <a:srgbClr val="222B3A"/>
                </a:solidFill>
                <a:latin typeface="Calibri"/>
              </a:rPr>
              <a:t>Preprocessor applied server-side — clients send raw flow features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3B82F6"/>
                </a:solidFill>
                <a:latin typeface="Calibri"/>
              </a:rPr>
              <a:t>• </a:t>
            </a:r>
            <a:r>
              <a:rPr sz="2000">
                <a:solidFill>
                  <a:srgbClr val="222B3A"/>
                </a:solidFill>
                <a:latin typeface="Calibri"/>
              </a:rPr>
              <a:t>Dockerfile bakes the trained model in so the image is reproducible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3B82F6"/>
                </a:solidFill>
                <a:latin typeface="Calibri"/>
              </a:rPr>
              <a:t>• </a:t>
            </a:r>
            <a:r>
              <a:rPr sz="2000">
                <a:solidFill>
                  <a:srgbClr val="222B3A"/>
                </a:solidFill>
                <a:latin typeface="Calibri"/>
              </a:rPr>
              <a:t>Swap served model by setting the MODEL_FILENAME env var at run time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F3A68"/>
                </a:solidFill>
                <a:latin typeface="Calibri"/>
              </a:rPr>
              <a:t>Streaming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64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3B82F6"/>
                </a:solidFill>
                <a:latin typeface="Calibri"/>
              </a:rPr>
              <a:t>• </a:t>
            </a:r>
            <a:r>
              <a:rPr sz="2000">
                <a:solidFill>
                  <a:srgbClr val="222B3A"/>
                </a:solidFill>
                <a:latin typeface="Calibri"/>
              </a:rPr>
              <a:t>demo_stream.py samples records from the held-out test set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3B82F6"/>
                </a:solidFill>
                <a:latin typeface="Calibri"/>
              </a:rPr>
              <a:t>• </a:t>
            </a:r>
            <a:r>
              <a:rPr sz="2000">
                <a:solidFill>
                  <a:srgbClr val="222B3A"/>
                </a:solidFill>
                <a:latin typeface="Calibri"/>
              </a:rPr>
              <a:t>Posts one at a time to the running API, prints a colour-coded live feed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3B82F6"/>
                </a:solidFill>
                <a:latin typeface="Calibri"/>
              </a:rPr>
              <a:t>• </a:t>
            </a:r>
            <a:r>
              <a:rPr sz="2000">
                <a:solidFill>
                  <a:srgbClr val="222B3A"/>
                </a:solidFill>
                <a:latin typeface="Calibri"/>
              </a:rPr>
              <a:t>Mirrors what a SOC analyst's terminal would show: benign flows pass, attacks raise ⚠ ALERT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3B82F6"/>
                </a:solidFill>
                <a:latin typeface="Calibri"/>
              </a:rPr>
              <a:t>• </a:t>
            </a:r>
            <a:r>
              <a:rPr sz="2000">
                <a:solidFill>
                  <a:srgbClr val="222B3A"/>
                </a:solidFill>
                <a:latin typeface="Calibri"/>
              </a:rPr>
              <a:t>Useful for a 3-minute video demo — a visually compelling and honest mini-evaluation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B82F6"/>
                </a:solidFill>
                <a:latin typeface="Calibri"/>
              </a:rPr>
              <a:t>python demo_stream.py  --n 60  --rate 4  --attack-ratio 0.35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F3A68"/>
                </a:solidFill>
                <a:latin typeface="Calibri"/>
              </a:rPr>
              <a:t>Conclusion &amp; 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A68"/>
                </a:solidFill>
                <a:latin typeface="Calibri"/>
              </a:rPr>
              <a:t>Delivered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3B82F6"/>
                </a:solidFill>
                <a:latin typeface="Calibri"/>
              </a:rPr>
              <a:t>• </a:t>
            </a:r>
            <a:r>
              <a:rPr sz="1800">
                <a:solidFill>
                  <a:srgbClr val="222B3A"/>
                </a:solidFill>
                <a:latin typeface="Calibri"/>
              </a:rPr>
              <a:t>End-to-end training pipeline with four self-contained notebooks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3B82F6"/>
                </a:solidFill>
                <a:latin typeface="Calibri"/>
              </a:rPr>
              <a:t>• </a:t>
            </a:r>
            <a:r>
              <a:rPr sz="1800">
                <a:solidFill>
                  <a:srgbClr val="222B3A"/>
                </a:solidFill>
                <a:latin typeface="Calibri"/>
              </a:rPr>
              <a:t>Three-stage hierarchical RF — 96.3 % accuracy, ~0.85 macro-F1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3B82F6"/>
                </a:solidFill>
                <a:latin typeface="Calibri"/>
              </a:rPr>
              <a:t>• </a:t>
            </a:r>
            <a:r>
              <a:rPr sz="1800">
                <a:solidFill>
                  <a:srgbClr val="222B3A"/>
                </a:solidFill>
                <a:latin typeface="Calibri"/>
              </a:rPr>
              <a:t>Dockerised FastAPI inference service with live streaming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023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A68"/>
                </a:solidFill>
                <a:latin typeface="Calibri"/>
              </a:rPr>
              <a:t>Future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3B82F6"/>
                </a:solidFill>
                <a:latin typeface="Calibri"/>
              </a:rPr>
              <a:t>• </a:t>
            </a:r>
            <a:r>
              <a:rPr sz="1800">
                <a:solidFill>
                  <a:srgbClr val="222B3A"/>
                </a:solidFill>
                <a:latin typeface="Calibri"/>
              </a:rPr>
              <a:t>Drift monitoring — feature-distribution drift, alert-rate spikes (PDF Step 7)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3B82F6"/>
                </a:solidFill>
                <a:latin typeface="Calibri"/>
              </a:rPr>
              <a:t>• </a:t>
            </a:r>
            <a:r>
              <a:rPr sz="1800">
                <a:solidFill>
                  <a:srgbClr val="222B3A"/>
                </a:solidFill>
                <a:latin typeface="Calibri"/>
              </a:rPr>
              <a:t>Gradient-boosted trees (LightGBM/XGBoost) as the stage-3 Web family specialist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3B82F6"/>
                </a:solidFill>
                <a:latin typeface="Calibri"/>
              </a:rPr>
              <a:t>• </a:t>
            </a:r>
            <a:r>
              <a:rPr sz="1800">
                <a:solidFill>
                  <a:srgbClr val="222B3A"/>
                </a:solidFill>
                <a:latin typeface="Calibri"/>
              </a:rPr>
              <a:t>Payload-level features to break the ~0.85 macro-F1 dataset ceiling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